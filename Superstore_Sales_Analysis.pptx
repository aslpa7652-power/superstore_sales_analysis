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&quot;K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827.5</c:v>
                </c:pt>
                <c:pt idx="1">
                  <c:v>728.7</c:v>
                </c:pt>
                <c:pt idx="2">
                  <c:v>705.4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A8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Phones</c:v>
                  </c:pt>
                  <c:pt idx="1">
                    <c:v>Chairs</c:v>
                  </c:pt>
                  <c:pt idx="2">
                    <c:v>Storage</c:v>
                  </c:pt>
                  <c:pt idx="3">
                    <c:v>Tables</c:v>
                  </c:pt>
                  <c:pt idx="4">
                    <c:v>Binders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327.8</c:v>
                </c:pt>
                <c:pt idx="1">
                  <c:v>322.8</c:v>
                </c:pt>
                <c:pt idx="2">
                  <c:v>219.3</c:v>
                </c:pt>
                <c:pt idx="3">
                  <c:v>202.8</c:v>
                </c:pt>
                <c:pt idx="4">
                  <c:v>200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710.2</c:v>
                </c:pt>
                <c:pt idx="1">
                  <c:v>669.5</c:v>
                </c:pt>
                <c:pt idx="2">
                  <c:v>492.6</c:v>
                </c:pt>
                <c:pt idx="3">
                  <c:v>389.2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A8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Sean Miller</c:v>
                  </c:pt>
                  <c:pt idx="1">
                    <c:v>Tamara Chand</c:v>
                  </c:pt>
                  <c:pt idx="2">
                    <c:v>Raymond Buch</c:v>
                  </c:pt>
                  <c:pt idx="3">
                    <c:v>Tom Ashbrook</c:v>
                  </c:pt>
                  <c:pt idx="4">
                    <c:v>Adrian Barton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25043</c:v>
                </c:pt>
                <c:pt idx="1">
                  <c:v>19052</c:v>
                </c:pt>
                <c:pt idx="2">
                  <c:v>15117</c:v>
                </c:pt>
                <c:pt idx="3">
                  <c:v>14596</c:v>
                </c:pt>
                <c:pt idx="4">
                  <c:v>14474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&quot;K&quot;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479.9</c:v>
                </c:pt>
                <c:pt idx="1">
                  <c:v>459.4</c:v>
                </c:pt>
                <c:pt idx="2">
                  <c:v>600.2</c:v>
                </c:pt>
                <c:pt idx="3">
                  <c:v>722.1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b="0" i="0" strike="noStrike" sz="115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B6A8F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B6A8F"/>
                </a:solidFill>
                <a:latin typeface="Calibri"/>
              </a:rPr>
              <a:t>Sales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710</c:v>
                </c:pt>
                <c:pt idx="1">
                  <c:v>670</c:v>
                </c:pt>
                <c:pt idx="2">
                  <c:v>493</c:v>
                </c:pt>
                <c:pt idx="3">
                  <c:v>389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A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B6A8F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5B6A8F"/>
                </a:solidFill>
                <a:latin typeface="Calibri"/>
              </a:rPr>
              <a:t>Sales by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5B7FBF"/>
              </a:solidFill>
              <a:effectLst/>
            </c:spPr>
          </c:dPt>
          <c:dPt>
            <c:idx val="2"/>
            <c:bubble3D val="0"/>
            <c:spPr>
              <a:solidFill>
                <a:srgbClr val="D9A44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50.8</c:v>
                </c:pt>
                <c:pt idx="1">
                  <c:v>30.4</c:v>
                </c:pt>
                <c:pt idx="2">
                  <c:v>18.8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2880360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Analysis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revenue, customer and regional performance drivers from 9,800 retail orders using SQL, Python and Power BI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074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$2.26M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5120640"/>
            <a:ext cx="0" cy="685800"/>
          </a:xfrm>
          <a:prstGeom prst="line">
            <a:avLst/>
          </a:prstGeom>
          <a:noFill/>
          <a:ln w="12700">
            <a:solidFill>
              <a:srgbClr val="3A44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5074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4,922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33872" y="5120640"/>
            <a:ext cx="0" cy="685800"/>
          </a:xfrm>
          <a:prstGeom prst="line">
            <a:avLst/>
          </a:prstGeom>
          <a:noFill/>
          <a:ln w="12700">
            <a:solidFill>
              <a:srgbClr val="3A448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9904" y="5074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089904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21624" y="5120640"/>
            <a:ext cx="0" cy="685800"/>
          </a:xfrm>
          <a:prstGeom prst="line">
            <a:avLst/>
          </a:prstGeom>
          <a:noFill/>
          <a:ln w="12700">
            <a:solidFill>
              <a:srgbClr val="3A44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77656" y="5074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2015–18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677656" y="5577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retail superstore needed clarity on where its sales, profit drivers and customer value actually come from — before planning next year's strategy.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685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685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raw transactional data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 rows across 21 fields were profiled, de-duplicated, and enriched with date and shipping-time features.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core business questions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423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categories, regions, segments and customers generate the most (and least) revenue?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trends over time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840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sales evolve year over year, and which months drive seasonal demand?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decision-ready dashboard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5257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an interactive Power BI report for stakeholders.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WORKFLOW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three-stage analytics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480560"/>
          </a:xfrm>
          <a:prstGeom prst="rect">
            <a:avLst>
              <a:gd name="adj" fmla="val 2025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9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429000"/>
            <a:ext cx="2971800" cy="0"/>
          </a:xfrm>
          <a:prstGeom prst="line">
            <a:avLst/>
          </a:prstGeom>
          <a:noFill/>
          <a:ln w="12700">
            <a:solidFill>
              <a:srgbClr val="D7DE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11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raw orders into a relational database and wrote 20+ queries to validate totals, rank categories, customers and segments, and cross-check every Python result.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62272" y="1600200"/>
            <a:ext cx="3611880" cy="4480560"/>
          </a:xfrm>
          <a:prstGeom prst="rect">
            <a:avLst>
              <a:gd name="adj" fmla="val 2025"/>
            </a:avLst>
          </a:prstGeom>
          <a:solidFill>
            <a:srgbClr val="EEF3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782312" y="1874520"/>
            <a:ext cx="640080" cy="640080"/>
          </a:xfrm>
          <a:prstGeom prst="ellipse">
            <a:avLst/>
          </a:prstGeom>
          <a:solidFill>
            <a:srgbClr val="5B7FB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8231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82312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782312" y="2999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EDA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82312" y="3429000"/>
            <a:ext cx="2971800" cy="0"/>
          </a:xfrm>
          <a:prstGeom prst="line">
            <a:avLst/>
          </a:prstGeom>
          <a:noFill/>
          <a:ln w="12700">
            <a:solidFill>
              <a:srgbClr val="D7DE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82312" y="3611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cleaning, null handling and feature engineering (shipping duration, order day / month / year); Seaborn &amp; Plotly for exploratory visuals.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75904" y="1600200"/>
            <a:ext cx="3611880" cy="4480560"/>
          </a:xfrm>
          <a:prstGeom prst="rect">
            <a:avLst>
              <a:gd name="adj" fmla="val 2025"/>
            </a:avLst>
          </a:prstGeom>
          <a:solidFill>
            <a:srgbClr val="EEF3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95944" y="187452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9594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95944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695944" y="2999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95944" y="3429000"/>
            <a:ext cx="2971800" cy="0"/>
          </a:xfrm>
          <a:prstGeom prst="line">
            <a:avLst/>
          </a:prstGeom>
          <a:noFill/>
          <a:ln w="12700">
            <a:solidFill>
              <a:srgbClr val="D7DE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95944" y="3611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.pbix report so stakeholders can filter sales by category, region, segment and time without touching code.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started with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2057400"/>
          </a:xfrm>
          <a:prstGeom prst="rect">
            <a:avLst>
              <a:gd name="adj" fmla="val 2667"/>
            </a:avLst>
          </a:prstGeom>
          <a:solidFill>
            <a:srgbClr val="141B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 items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transactional rows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2057400"/>
          </a:xfrm>
          <a:prstGeom prst="rect">
            <a:avLst>
              <a:gd name="adj" fmla="val 2667"/>
            </a:avLst>
          </a:prstGeom>
          <a:solidFill>
            <a:srgbClr val="141B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dates, geography, sales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2057400"/>
          </a:xfrm>
          <a:prstGeom prst="rect">
            <a:avLst>
              <a:gd name="adj" fmla="val 2667"/>
            </a:avLst>
          </a:prstGeom>
          <a:solidFill>
            <a:srgbClr val="141B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2011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4,922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by 793 customers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520440" cy="2057400"/>
          </a:xfrm>
          <a:prstGeom prst="rect">
            <a:avLst>
              <a:gd name="adj" fmla="val 2667"/>
            </a:avLst>
          </a:prstGeom>
          <a:solidFill>
            <a:srgbClr val="141B4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343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440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segments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4114800"/>
            <a:ext cx="3520440" cy="2057400"/>
          </a:xfrm>
          <a:prstGeom prst="rect">
            <a:avLst>
              <a:gd name="adj" fmla="val 2667"/>
            </a:avLst>
          </a:prstGeom>
          <a:solidFill>
            <a:srgbClr val="141B4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17720" y="4343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yrs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coverage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5440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through 2018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4114800"/>
            <a:ext cx="3520440" cy="2057400"/>
          </a:xfrm>
          <a:prstGeom prst="rect">
            <a:avLst>
              <a:gd name="adj" fmla="val 2667"/>
            </a:avLst>
          </a:prstGeom>
          <a:solidFill>
            <a:srgbClr val="141B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0" y="4343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5440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 Same Day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Cleaning, then engineering new signal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480560"/>
          </a:xfrm>
          <a:prstGeom prst="rect">
            <a:avLst>
              <a:gd name="adj" fmla="val 1633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212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shape, dtypes and duplicates (0 exact duplicate rows found)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1729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codes missing for a handful of Vermont ZIPs — filled with a placeholder after confirming the pattern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25196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1330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column names to lowercase, underscore-separated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521208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5093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order_date and ship_date to proper datetime types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5394960" cy="4480560"/>
          </a:xfrm>
          <a:prstGeom prst="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33172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12280" y="2212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shipping_duration — days between order and ship date (avg. 3.96 days)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329184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31729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order_day / order_month / order_year — extracted for seasonality analysis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425196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41330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ship_day / ship_month / ship_year — mirrored for fulfilment tracking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5212080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5093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redundant row_id after indexing was no longer needed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leads, but the gap is narrow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81812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$827K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130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4048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36.6% of total sales — driven by phones &amp; copiers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3063240"/>
            <a:ext cx="3566160" cy="0"/>
          </a:xfrm>
          <a:prstGeom prst="line">
            <a:avLst/>
          </a:prstGeom>
          <a:noFill/>
          <a:ln w="12700">
            <a:solidFill>
              <a:srgbClr val="E3E8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$729K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38679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 of total sales — chairs &amp; tables lead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18120" y="4526280"/>
            <a:ext cx="3566160" cy="0"/>
          </a:xfrm>
          <a:prstGeom prst="line">
            <a:avLst/>
          </a:prstGeom>
          <a:noFill/>
          <a:ln w="12700">
            <a:solidFill>
              <a:srgbClr val="E3E8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$705K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5056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5330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 of total sales — highest order volume, lower ticket size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CUSTOMER MIX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sub-categories &amp; who buys them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SUB-CATEGORIES BY SALES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87452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0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SHARE BY SEGMENT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0" y="2331720"/>
            <a:ext cx="4297680" cy="201168"/>
          </a:xfrm>
          <a:prstGeom prst="rect">
            <a:avLst>
              <a:gd name="adj" fmla="val 13636"/>
            </a:avLst>
          </a:prstGeom>
          <a:solidFill>
            <a:srgbClr val="E3E8F4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0" y="2331720"/>
            <a:ext cx="2183221" cy="201168"/>
          </a:xfrm>
          <a:prstGeom prst="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3108960"/>
            <a:ext cx="4297680" cy="201168"/>
          </a:xfrm>
          <a:prstGeom prst="rect">
            <a:avLst>
              <a:gd name="adj" fmla="val 13636"/>
            </a:avLst>
          </a:prstGeom>
          <a:solidFill>
            <a:srgbClr val="E3E8F4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0" y="3108960"/>
            <a:ext cx="1306495" cy="201168"/>
          </a:xfrm>
          <a:prstGeom prst="rect">
            <a:avLst>
              <a:gd name="adj" fmla="val 13636"/>
            </a:avLst>
          </a:prstGeom>
          <a:solidFill>
            <a:srgbClr val="5B7FB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5200" y="3886200"/>
            <a:ext cx="4297680" cy="201168"/>
          </a:xfrm>
          <a:prstGeom prst="rect">
            <a:avLst>
              <a:gd name="adj" fmla="val 13636"/>
            </a:avLst>
          </a:prstGeom>
          <a:solidFill>
            <a:srgbClr val="E3E8F4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3886200"/>
            <a:ext cx="807964" cy="201168"/>
          </a:xfrm>
          <a:prstGeom prst="rect">
            <a:avLst>
              <a:gd name="adj" fmla="val 13636"/>
            </a:avLst>
          </a:prstGeom>
          <a:solidFill>
            <a:srgbClr val="D9A441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0" y="4434840"/>
            <a:ext cx="4297680" cy="1737360"/>
          </a:xfrm>
          <a:prstGeom prst="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589520" y="461772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is the single largest segment, generating over half of all revenue — more than Corporate and Home Office combined.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West and East regions carry the business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691640"/>
            <a:ext cx="5394960" cy="2011680"/>
          </a:xfrm>
          <a:prstGeom prst="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37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 BY SALES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224028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240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646920" y="2240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$446K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54203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542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9646920" y="2542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$306K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8437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28437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646920" y="28437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$169K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31455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31455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31455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$135K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344728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34472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Pennsylvania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9646920" y="34472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3886200"/>
            <a:ext cx="5394960" cy="2103120"/>
          </a:xfrm>
          <a:prstGeom prst="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3796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CITIES BY SALES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44348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9646920" y="4434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$252K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537960" y="473659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0" y="47365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9646920" y="4736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$173K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537960" y="503834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858000" y="5038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9646920" y="5038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$116K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6537960" y="53400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6858000" y="53400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9646920" y="5340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$109K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6537960" y="56418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858000" y="5641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9646920" y="5641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$109K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runs deep — 98% of customers reorder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2377440"/>
          </a:xfrm>
          <a:prstGeom prst="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48.3%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 come from just the top 20% of customers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56432" y="1691640"/>
            <a:ext cx="2697480" cy="2377440"/>
          </a:xfrm>
          <a:prstGeom prst="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85032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780 / 793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2788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(98.4%) placed more than one order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64224" y="1691640"/>
            <a:ext cx="2697480" cy="2377440"/>
          </a:xfrm>
          <a:prstGeom prst="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2824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$25,043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6592824" y="2788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 — the single highest-spending customer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72016" y="1691640"/>
            <a:ext cx="2697480" cy="2377440"/>
          </a:xfrm>
          <a:prstGeom prst="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00616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3.96 days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9500616" y="27889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 order to shipment across all orders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TOTAL SALES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4617720"/>
          <a:ext cx="114300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recovery after a soft 2016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SALES ($K) &amp; YEAR-OVER-YEAR GROWTH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8745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920240"/>
            <a:ext cx="1417320" cy="1051560"/>
          </a:xfrm>
          <a:prstGeom prst="rect">
            <a:avLst>
              <a:gd name="adj" fmla="val 5217"/>
            </a:avLst>
          </a:prstGeom>
          <a:solidFill>
            <a:srgbClr val="EEF3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06640" y="2057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6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-4.3%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006840" y="1920240"/>
            <a:ext cx="1417320" cy="1051560"/>
          </a:xfrm>
          <a:prstGeom prst="rect">
            <a:avLst>
              <a:gd name="adj" fmla="val 5217"/>
            </a:avLst>
          </a:prstGeom>
          <a:solidFill>
            <a:srgbClr val="EEF3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006840" y="2057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+30.6%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607040" y="1920240"/>
            <a:ext cx="1417320" cy="1051560"/>
          </a:xfrm>
          <a:prstGeom prst="rect">
            <a:avLst>
              <a:gd name="adj" fmla="val 5217"/>
            </a:avLst>
          </a:prstGeom>
          <a:solidFill>
            <a:srgbClr val="EEF3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607040" y="20574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+20.3%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060704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06640" y="3246120"/>
            <a:ext cx="4297680" cy="2834640"/>
          </a:xfrm>
          <a:prstGeom prst="rect">
            <a:avLst>
              <a:gd name="adj" fmla="val 2581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&amp; Dec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43434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alone brings in $350K — nearly 6× February's $59K, the slowest month. September also spikes to $300K, likely back-to-school / fiscal-year-end buying.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Power BI dashboard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in this deck is also explorable live — filterable by category, region, segment and year.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7406640" cy="4069080"/>
          </a:xfrm>
          <a:prstGeom prst="rect">
            <a:avLst>
              <a:gd name="adj" fmla="val 1124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03120"/>
            <a:ext cx="7406640" cy="50292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267712"/>
            <a:ext cx="164592" cy="164592"/>
          </a:xfrm>
          <a:prstGeom prst="ellipse">
            <a:avLst/>
          </a:prstGeom>
          <a:solidFill>
            <a:srgbClr val="E06666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267712"/>
            <a:ext cx="164592" cy="16459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1234440" y="2267712"/>
            <a:ext cx="164592" cy="164592"/>
          </a:xfrm>
          <a:prstGeom prst="ellipse">
            <a:avLst/>
          </a:prstGeom>
          <a:solidFill>
            <a:srgbClr val="6FBF7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4320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Overview.pbix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788920"/>
            <a:ext cx="2194560" cy="914400"/>
          </a:xfrm>
          <a:prstGeom prst="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$2.26M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2788920"/>
            <a:ext cx="2194560" cy="914400"/>
          </a:xfrm>
          <a:prstGeom prst="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9184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4,922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2788920"/>
            <a:ext cx="2194560" cy="914400"/>
          </a:xfrm>
          <a:prstGeom prst="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2356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$230.8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822960" y="3886200"/>
          <a:ext cx="32918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3" name="Chart 1" descr=""/>
          <p:cNvGraphicFramePr/>
          <p:nvPr/>
        </p:nvGraphicFramePr>
        <p:xfrm>
          <a:off x="4297680" y="3886200"/>
          <a:ext cx="32918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8229600" y="2103120"/>
            <a:ext cx="3429000" cy="4069080"/>
          </a:xfrm>
          <a:prstGeom prst="rect">
            <a:avLst>
              <a:gd name="adj" fmla="val 2133"/>
            </a:avLst>
          </a:prstGeom>
          <a:solidFill>
            <a:srgbClr val="141B4D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50392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503920" y="2798064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705088" y="26700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report with slicers for year, region and segment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503920" y="3694176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705088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sub-category drill-down visuals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503920" y="4590288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8705088" y="44622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leaderboard with search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503920" y="548640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705088" y="535838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performance by mode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business should do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240280"/>
          </a:xfrm>
          <a:prstGeom prst="rect">
            <a:avLst>
              <a:gd name="adj" fmla="val 3265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476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top-spending customers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20% of customers drive 48% of revenue — a loyalty or account-management program would defend this base.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2240280"/>
          </a:xfrm>
          <a:prstGeom prst="rect">
            <a:avLst>
              <a:gd name="adj" fmla="val 3265"/>
            </a:avLst>
          </a:prstGeom>
          <a:solidFill>
            <a:srgbClr val="EEF3FC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9476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Technology &amp; Furniture bundles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out-earn Office Supplies despite fewer orders — cross-sell higher-margin items to Office Supplies buyers.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349240" cy="2240280"/>
          </a:xfrm>
          <a:prstGeom prst="rect">
            <a:avLst>
              <a:gd name="adj" fmla="val 3265"/>
            </a:avLst>
          </a:prstGeom>
          <a:solidFill>
            <a:srgbClr val="EEF3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416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the Nov–Dec surge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074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Peak-season sales are ~6× February's — align inventory, staffing and marketing spend to this seasonal curve.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160520"/>
            <a:ext cx="5349240" cy="2240280"/>
          </a:xfrm>
          <a:prstGeom prst="rect">
            <a:avLst>
              <a:gd name="adj" fmla="val 3265"/>
            </a:avLst>
          </a:prstGeom>
          <a:solidFill>
            <a:srgbClr val="EEF3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416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Re-energize the South &amp; Central regions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074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trail West and East by wide margins and are the clearest whitespace for regional growth investment.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cleaned dataset, SQL scripts and the Power BI report are available in this repository.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352544"/>
            <a:ext cx="73152" cy="731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superstore_sales_data.ipynb — Python cleaning &amp; EDA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4736592"/>
            <a:ext cx="73152" cy="731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590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superstore_sql_analysis_CMPT.sql — SQL analysis queries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5120640"/>
            <a:ext cx="73152" cy="731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9743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supers_sales_analysis.pbix — Power BI dashboard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5504688"/>
            <a:ext cx="73152" cy="7315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53583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superstore_sales_clean_data.csv — cleaned dataset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2026-09-09T10:32:02Z</dcterms:created>
  <dcterms:modified xsi:type="dcterms:W3CDTF">2026-09-09T10:32:02Z</dcterms:modified>
</cp:coreProperties>
</file>